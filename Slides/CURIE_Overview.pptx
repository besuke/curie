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687050" cy="756285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0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90FAE5-D768-4676-B7CC-F0C5E86E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05" y="2857077"/>
            <a:ext cx="8549640" cy="109241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FFD9611-2346-473A-9F68-AE3968477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058" y="4159568"/>
            <a:ext cx="7480935" cy="84031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BFB84FB-CE98-4B59-875D-3BD6C255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05" y="3151188"/>
            <a:ext cx="8549640" cy="12604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D83D49-876A-4956-9F4A-315B501D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47" y="588222"/>
            <a:ext cx="9484757" cy="92434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CCF6A10-6BD7-46DD-B163-1021B866F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147" y="2100792"/>
            <a:ext cx="9484757" cy="470577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38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558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4735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1911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087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263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3440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0616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779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0317174-9D69-42B8-B8C8-A37E1DF0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47" y="588222"/>
            <a:ext cx="9484757" cy="92434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C738FAE-5743-43BE-B25C-BD5641ECB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147" y="2100792"/>
            <a:ext cx="4408408" cy="470577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38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558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4735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1911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087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263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3440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0616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779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1B84FE9-4D99-48BF-A547-F2DE72930D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77495" y="2100792"/>
            <a:ext cx="4408408" cy="470577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38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558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4735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1911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087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263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3440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0616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779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54DB54-061D-4318-8BC7-8B507E36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47" y="588222"/>
            <a:ext cx="9484757" cy="92434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1DDCB63-1551-47C8-BA73-840A31438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147" y="2100792"/>
            <a:ext cx="4408408" cy="470577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38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558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4735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1911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087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6263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3440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0616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7792" indent="-2003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511C3628-E6DC-49DC-B38F-D7A1AE3188F5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2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 U R I E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09D292C4-D1AE-4B38-B956-62C94BC9D0B8}"/>
              </a:ext>
            </a:extLst>
          </p:cNvPr>
          <p:cNvSpPr>
            <a:spLocks noGrp="1"/>
          </p:cNvSpPr>
          <p:nvPr/>
        </p:nvSpPr>
        <p:spPr>
          <a:xfrm>
            <a:off x="361950" y="514350"/>
            <a:ext cx="996315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8BF112-E256-4B7D-AFE2-3BA21B2B9964}"/>
              </a:ext>
            </a:extLst>
          </p:cNvPr>
          <p:cNvSpPr>
            <a:spLocks noGrp="1"/>
          </p:cNvSpPr>
          <p:nvPr/>
        </p:nvSpPr>
        <p:spPr>
          <a:xfrm>
            <a:off x="361950" y="714375"/>
            <a:ext cx="9963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TRS個別契約書をデジタル化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8D836E-1B41-4C8B-93D0-7D84E640D857}"/>
              </a:ext>
            </a:extLst>
          </p:cNvPr>
          <p:cNvSpPr>
            <a:spLocks noGrp="1"/>
          </p:cNvSpPr>
          <p:nvPr/>
        </p:nvSpPr>
        <p:spPr>
          <a:xfrm>
            <a:off x="361950" y="1466850"/>
            <a:ext cx="31051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203248-21A1-4C01-8499-C28CF829668B}"/>
              </a:ext>
            </a:extLst>
          </p:cNvPr>
          <p:cNvSpPr>
            <a:spLocks noGrp="1"/>
          </p:cNvSpPr>
          <p:nvPr/>
        </p:nvSpPr>
        <p:spPr>
          <a:xfrm>
            <a:off x="361950" y="1466850"/>
            <a:ext cx="31051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6921A8-F067-4100-8C2D-C1A6731A00A3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88F624-4D7F-4854-8917-41F6CF0C8FAA}"/>
              </a:ext>
            </a:extLst>
          </p:cNvPr>
          <p:cNvSpPr>
            <a:spLocks noGrp="1"/>
          </p:cNvSpPr>
          <p:nvPr/>
        </p:nvSpPr>
        <p:spPr>
          <a:xfrm>
            <a:off x="828675" y="1533525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契約書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B8199ABF-800A-4219-9A75-C69EC966B80A}"/>
              </a:ext>
            </a:extLst>
          </p:cNvPr>
          <p:cNvSpPr>
            <a:spLocks noGrp="1"/>
          </p:cNvSpPr>
          <p:nvPr/>
        </p:nvSpPr>
        <p:spPr>
          <a:xfrm>
            <a:off x="3533775" y="3076575"/>
            <a:ext cx="171450" cy="1371600"/>
          </a:xfrm>
          <a:custGeom>
            <a:avLst/>
            <a:gdLst/>
            <a:ahLst/>
            <a:cxnLst/>
            <a:rect l="0" t="0" r="0" b="0"/>
            <a:pathLst>
              <a:path w="171450" h="1371600">
                <a:moveTo>
                  <a:pt x="0" y="0"/>
                </a:moveTo>
                <a:lnTo>
                  <a:pt x="171450" y="6858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0845EAA-8E0F-44CB-95AF-44EC991DDC4A}"/>
              </a:ext>
            </a:extLst>
          </p:cNvPr>
          <p:cNvSpPr>
            <a:spLocks noGrp="1"/>
          </p:cNvSpPr>
          <p:nvPr/>
        </p:nvSpPr>
        <p:spPr>
          <a:xfrm>
            <a:off x="3790950" y="1466850"/>
            <a:ext cx="31051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1D4C046-4059-471D-BC71-D6A9A8FE5EFA}"/>
              </a:ext>
            </a:extLst>
          </p:cNvPr>
          <p:cNvSpPr>
            <a:spLocks noGrp="1"/>
          </p:cNvSpPr>
          <p:nvPr/>
        </p:nvSpPr>
        <p:spPr>
          <a:xfrm>
            <a:off x="3790950" y="1466850"/>
            <a:ext cx="31051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F2BF5D9-0E02-4103-A866-62BA5EB348A9}"/>
              </a:ext>
            </a:extLst>
          </p:cNvPr>
          <p:cNvSpPr>
            <a:spLocks noGrp="1"/>
          </p:cNvSpPr>
          <p:nvPr/>
        </p:nvSpPr>
        <p:spPr>
          <a:xfrm>
            <a:off x="3905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D950DBC-E327-4554-B6B5-406E97B7D014}"/>
              </a:ext>
            </a:extLst>
          </p:cNvPr>
          <p:cNvSpPr>
            <a:spLocks noGrp="1"/>
          </p:cNvSpPr>
          <p:nvPr/>
        </p:nvSpPr>
        <p:spPr>
          <a:xfrm>
            <a:off x="4257675" y="1533525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AI読取り・API連携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66CDCF9F-4C60-4D72-8C31-B7D4DE2539A5}"/>
              </a:ext>
            </a:extLst>
          </p:cNvPr>
          <p:cNvSpPr>
            <a:spLocks noGrp="1"/>
          </p:cNvSpPr>
          <p:nvPr/>
        </p:nvSpPr>
        <p:spPr>
          <a:xfrm>
            <a:off x="6962775" y="3076575"/>
            <a:ext cx="171450" cy="1371600"/>
          </a:xfrm>
          <a:custGeom>
            <a:avLst/>
            <a:gdLst/>
            <a:ahLst/>
            <a:cxnLst/>
            <a:rect l="0" t="0" r="0" b="0"/>
            <a:pathLst>
              <a:path w="171450" h="1371600">
                <a:moveTo>
                  <a:pt x="0" y="0"/>
                </a:moveTo>
                <a:lnTo>
                  <a:pt x="171450" y="6858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A6F2F0B-C337-4AC5-923E-6009A9B46B8A}"/>
              </a:ext>
            </a:extLst>
          </p:cNvPr>
          <p:cNvSpPr>
            <a:spLocks noGrp="1"/>
          </p:cNvSpPr>
          <p:nvPr/>
        </p:nvSpPr>
        <p:spPr>
          <a:xfrm>
            <a:off x="7219950" y="1466850"/>
            <a:ext cx="31051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2A39A22-6C49-4B4D-BD5D-E368C6911729}"/>
              </a:ext>
            </a:extLst>
          </p:cNvPr>
          <p:cNvSpPr>
            <a:spLocks noGrp="1"/>
          </p:cNvSpPr>
          <p:nvPr/>
        </p:nvSpPr>
        <p:spPr>
          <a:xfrm>
            <a:off x="7219950" y="1466850"/>
            <a:ext cx="31051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B7C9531-A853-4F7F-8D99-8CA005111492}"/>
              </a:ext>
            </a:extLst>
          </p:cNvPr>
          <p:cNvSpPr>
            <a:spLocks noGrp="1"/>
          </p:cNvSpPr>
          <p:nvPr/>
        </p:nvSpPr>
        <p:spPr>
          <a:xfrm>
            <a:off x="7334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0E63193-D92A-433B-A4D9-429492A1D8B0}"/>
              </a:ext>
            </a:extLst>
          </p:cNvPr>
          <p:cNvSpPr>
            <a:spLocks noGrp="1"/>
          </p:cNvSpPr>
          <p:nvPr/>
        </p:nvSpPr>
        <p:spPr>
          <a:xfrm>
            <a:off x="7686675" y="1533525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NAV計算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CA79EBC8-6279-444A-AEB2-4359178B9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29000" r="70000" b="36000"/>
          <a:stretch/>
        </p:blipFill>
        <p:spPr>
          <a:xfrm>
            <a:off x="895350" y="2238375"/>
            <a:ext cx="2038350" cy="2667000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6FF5634-A599-4386-9B66-AAD965D4FDB8}"/>
              </a:ext>
            </a:extLst>
          </p:cNvPr>
          <p:cNvSpPr>
            <a:spLocks noGrp="1"/>
          </p:cNvSpPr>
          <p:nvPr/>
        </p:nvSpPr>
        <p:spPr>
          <a:xfrm>
            <a:off x="504825" y="5162550"/>
            <a:ext cx="2819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複数の個別契約書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6443681-7A3E-4A82-950A-09F96A011EB0}"/>
              </a:ext>
            </a:extLst>
          </p:cNvPr>
          <p:cNvSpPr>
            <a:spLocks noGrp="1"/>
          </p:cNvSpPr>
          <p:nvPr/>
        </p:nvSpPr>
        <p:spPr>
          <a:xfrm>
            <a:off x="3990975" y="2295525"/>
            <a:ext cx="1200150" cy="6953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5AD4334-1C50-42A3-9DA3-198D101AA3FA}"/>
              </a:ext>
            </a:extLst>
          </p:cNvPr>
          <p:cNvSpPr>
            <a:spLocks noGrp="1"/>
          </p:cNvSpPr>
          <p:nvPr/>
        </p:nvSpPr>
        <p:spPr>
          <a:xfrm>
            <a:off x="4067175" y="2343150"/>
            <a:ext cx="1047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Claude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C4C45E3-67E0-45B9-8478-5968FB7CE067}"/>
              </a:ext>
            </a:extLst>
          </p:cNvPr>
          <p:cNvSpPr>
            <a:spLocks noGrp="1"/>
          </p:cNvSpPr>
          <p:nvPr/>
        </p:nvSpPr>
        <p:spPr>
          <a:xfrm>
            <a:off x="5219700" y="2476500"/>
            <a:ext cx="238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▷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5406B47-0634-4ECA-8B49-7429C2EF6B65}"/>
              </a:ext>
            </a:extLst>
          </p:cNvPr>
          <p:cNvSpPr>
            <a:spLocks noGrp="1"/>
          </p:cNvSpPr>
          <p:nvPr/>
        </p:nvSpPr>
        <p:spPr>
          <a:xfrm>
            <a:off x="5543550" y="2295525"/>
            <a:ext cx="1181100" cy="6953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F01D474-490F-4703-866F-804C99F50CF8}"/>
              </a:ext>
            </a:extLst>
          </p:cNvPr>
          <p:cNvSpPr>
            <a:spLocks noGrp="1"/>
          </p:cNvSpPr>
          <p:nvPr/>
        </p:nvSpPr>
        <p:spPr>
          <a:xfrm>
            <a:off x="5619750" y="2343150"/>
            <a:ext cx="10287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Aladdin</a:t>
            </a:r>
          </a:p>
          <a:p>
            <a:pPr algn="ctr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Secmaster API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F51A348-FFC2-4C94-B8D1-64AFF6CB3314}"/>
              </a:ext>
            </a:extLst>
          </p:cNvPr>
          <p:cNvSpPr>
            <a:spLocks noGrp="1"/>
          </p:cNvSpPr>
          <p:nvPr/>
        </p:nvSpPr>
        <p:spPr>
          <a:xfrm>
            <a:off x="3981450" y="321945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契約条件をデータ化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796B196-87AB-48D0-AA6B-363E72E450C0}"/>
              </a:ext>
            </a:extLst>
          </p:cNvPr>
          <p:cNvSpPr>
            <a:spLocks noGrp="1"/>
          </p:cNvSpPr>
          <p:nvPr/>
        </p:nvSpPr>
        <p:spPr>
          <a:xfrm>
            <a:off x="3943350" y="3943350"/>
            <a:ext cx="1428750" cy="8858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E941CE3-BC4F-4941-894C-D6255CBE4930}"/>
              </a:ext>
            </a:extLst>
          </p:cNvPr>
          <p:cNvSpPr>
            <a:spLocks noGrp="1"/>
          </p:cNvSpPr>
          <p:nvPr/>
        </p:nvSpPr>
        <p:spPr>
          <a:xfrm>
            <a:off x="4019550" y="3990975"/>
            <a:ext cx="12763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トータル</a:t>
            </a:r>
          </a:p>
          <a:p>
            <a:pPr algn="ctr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リターン・レグ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A5EF704-24D4-4A37-9548-B7F76A284988}"/>
              </a:ext>
            </a:extLst>
          </p:cNvPr>
          <p:cNvSpPr>
            <a:spLocks noGrp="1"/>
          </p:cNvSpPr>
          <p:nvPr/>
        </p:nvSpPr>
        <p:spPr>
          <a:xfrm>
            <a:off x="5381625" y="4152900"/>
            <a:ext cx="238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269AFFE-010C-4054-B143-5964EDF690D1}"/>
              </a:ext>
            </a:extLst>
          </p:cNvPr>
          <p:cNvSpPr>
            <a:spLocks noGrp="1"/>
          </p:cNvSpPr>
          <p:nvPr/>
        </p:nvSpPr>
        <p:spPr>
          <a:xfrm>
            <a:off x="5686425" y="3943350"/>
            <a:ext cx="1057275" cy="8858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BCE62D1-111B-49BA-8D29-3674E231ACD3}"/>
              </a:ext>
            </a:extLst>
          </p:cNvPr>
          <p:cNvSpPr>
            <a:spLocks noGrp="1"/>
          </p:cNvSpPr>
          <p:nvPr/>
        </p:nvSpPr>
        <p:spPr>
          <a:xfrm>
            <a:off x="5762625" y="3990975"/>
            <a:ext cx="9048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金利レグ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A1BED0F-DF11-44F8-A53D-D208F1D66FD3}"/>
              </a:ext>
            </a:extLst>
          </p:cNvPr>
          <p:cNvSpPr>
            <a:spLocks noGrp="1"/>
          </p:cNvSpPr>
          <p:nvPr/>
        </p:nvSpPr>
        <p:spPr>
          <a:xfrm>
            <a:off x="7400925" y="2171700"/>
            <a:ext cx="2743200" cy="6667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EA5B2A3-CD57-4234-B9E1-F9A61371FBA1}"/>
              </a:ext>
            </a:extLst>
          </p:cNvPr>
          <p:cNvSpPr>
            <a:spLocks noGrp="1"/>
          </p:cNvSpPr>
          <p:nvPr/>
        </p:nvSpPr>
        <p:spPr>
          <a:xfrm>
            <a:off x="7477125" y="2219325"/>
            <a:ext cx="2590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Quants Library</a:t>
            </a:r>
          </a:p>
          <a:p>
            <a:pPr algn="ctr"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Gauss（仮）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06AB421-227D-4BFF-8B2C-15D36A528ACB}"/>
              </a:ext>
            </a:extLst>
          </p:cNvPr>
          <p:cNvSpPr>
            <a:spLocks noGrp="1"/>
          </p:cNvSpPr>
          <p:nvPr/>
        </p:nvSpPr>
        <p:spPr>
          <a:xfrm>
            <a:off x="7391400" y="304800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将来CFの予測・割引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4C8B983-4FF1-4326-AC7B-28D756AF4094}"/>
              </a:ext>
            </a:extLst>
          </p:cNvPr>
          <p:cNvSpPr>
            <a:spLocks noGrp="1"/>
          </p:cNvSpPr>
          <p:nvPr/>
        </p:nvSpPr>
        <p:spPr>
          <a:xfrm>
            <a:off x="7353300" y="3457575"/>
            <a:ext cx="2819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トータルリターン・レグ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9EF5A880-B74B-4FDC-BF67-688879E14C97}"/>
              </a:ext>
            </a:extLst>
          </p:cNvPr>
          <p:cNvSpPr>
            <a:spLocks noGrp="1"/>
          </p:cNvSpPr>
          <p:nvPr/>
        </p:nvSpPr>
        <p:spPr>
          <a:xfrm>
            <a:off x="7410450" y="4048125"/>
            <a:ext cx="2695575" cy="0"/>
          </a:xfrm>
          <a:prstGeom prst="line">
            <a:avLst/>
          </a:prstGeom>
          <a:noFill/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DD09B0B2-DD64-4DD7-9FFA-D2E2C51A3C39}"/>
              </a:ext>
            </a:extLst>
          </p:cNvPr>
          <p:cNvSpPr>
            <a:spLocks noGrp="1"/>
          </p:cNvSpPr>
          <p:nvPr/>
        </p:nvSpPr>
        <p:spPr>
          <a:xfrm>
            <a:off x="7410450" y="4572000"/>
            <a:ext cx="2695575" cy="0"/>
          </a:xfrm>
          <a:prstGeom prst="line">
            <a:avLst/>
          </a:prstGeom>
          <a:noFill/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B8BC2ED-C702-428F-B83F-1D8302B2BA6C}"/>
              </a:ext>
            </a:extLst>
          </p:cNvPr>
          <p:cNvSpPr>
            <a:spLocks noGrp="1"/>
          </p:cNvSpPr>
          <p:nvPr/>
        </p:nvSpPr>
        <p:spPr>
          <a:xfrm>
            <a:off x="7553325" y="3886200"/>
            <a:ext cx="133350" cy="161925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13E02D1-F123-4113-BD23-41B3232E07B6}"/>
              </a:ext>
            </a:extLst>
          </p:cNvPr>
          <p:cNvSpPr>
            <a:spLocks noGrp="1"/>
          </p:cNvSpPr>
          <p:nvPr/>
        </p:nvSpPr>
        <p:spPr>
          <a:xfrm>
            <a:off x="7553325" y="4572000"/>
            <a:ext cx="133350" cy="142875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B1800AA-0B96-41DE-960D-A6C8A5E31EAA}"/>
              </a:ext>
            </a:extLst>
          </p:cNvPr>
          <p:cNvSpPr>
            <a:spLocks noGrp="1"/>
          </p:cNvSpPr>
          <p:nvPr/>
        </p:nvSpPr>
        <p:spPr>
          <a:xfrm>
            <a:off x="7962900" y="3762375"/>
            <a:ext cx="133350" cy="285750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D8F5C66-22EB-43B7-893C-5035076A0913}"/>
              </a:ext>
            </a:extLst>
          </p:cNvPr>
          <p:cNvSpPr>
            <a:spLocks noGrp="1"/>
          </p:cNvSpPr>
          <p:nvPr/>
        </p:nvSpPr>
        <p:spPr>
          <a:xfrm>
            <a:off x="7962900" y="4572000"/>
            <a:ext cx="133350" cy="209550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753ACA4-747D-4DED-9177-DF4D33C8173B}"/>
              </a:ext>
            </a:extLst>
          </p:cNvPr>
          <p:cNvSpPr>
            <a:spLocks noGrp="1"/>
          </p:cNvSpPr>
          <p:nvPr/>
        </p:nvSpPr>
        <p:spPr>
          <a:xfrm>
            <a:off x="8372475" y="3829050"/>
            <a:ext cx="133350" cy="219075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2707417-808D-422E-8A20-A52D314A77E3}"/>
              </a:ext>
            </a:extLst>
          </p:cNvPr>
          <p:cNvSpPr>
            <a:spLocks noGrp="1"/>
          </p:cNvSpPr>
          <p:nvPr/>
        </p:nvSpPr>
        <p:spPr>
          <a:xfrm>
            <a:off x="8372475" y="4572000"/>
            <a:ext cx="133350" cy="161925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64610EC-2740-4973-814D-D8890BC911A9}"/>
              </a:ext>
            </a:extLst>
          </p:cNvPr>
          <p:cNvSpPr>
            <a:spLocks noGrp="1"/>
          </p:cNvSpPr>
          <p:nvPr/>
        </p:nvSpPr>
        <p:spPr>
          <a:xfrm>
            <a:off x="8782050" y="3695700"/>
            <a:ext cx="133350" cy="352425"/>
          </a:xfrm>
          <a:prstGeom prst="rect">
            <a:avLst/>
          </a:prstGeom>
          <a:solidFill>
            <a:srgbClr val="DDDDDD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85B0434-8D13-4E78-93CB-4109FBB1DD6D}"/>
              </a:ext>
            </a:extLst>
          </p:cNvPr>
          <p:cNvSpPr>
            <a:spLocks noGrp="1"/>
          </p:cNvSpPr>
          <p:nvPr/>
        </p:nvSpPr>
        <p:spPr>
          <a:xfrm>
            <a:off x="8782050" y="4572000"/>
            <a:ext cx="133350" cy="238125"/>
          </a:xfrm>
          <a:prstGeom prst="rect">
            <a:avLst/>
          </a:prstGeom>
          <a:solidFill>
            <a:srgbClr val="DDDDDD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D7E29212-9AE6-41B0-8ECD-A092A0CFB54D}"/>
              </a:ext>
            </a:extLst>
          </p:cNvPr>
          <p:cNvSpPr>
            <a:spLocks noGrp="1"/>
          </p:cNvSpPr>
          <p:nvPr/>
        </p:nvSpPr>
        <p:spPr>
          <a:xfrm>
            <a:off x="9191625" y="3800475"/>
            <a:ext cx="133350" cy="247650"/>
          </a:xfrm>
          <a:prstGeom prst="rect">
            <a:avLst/>
          </a:prstGeom>
          <a:solidFill>
            <a:srgbClr val="DDDDDD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4A454CB-EF9A-4D4A-AA17-E9C9A2A2F01E}"/>
              </a:ext>
            </a:extLst>
          </p:cNvPr>
          <p:cNvSpPr>
            <a:spLocks noGrp="1"/>
          </p:cNvSpPr>
          <p:nvPr/>
        </p:nvSpPr>
        <p:spPr>
          <a:xfrm>
            <a:off x="9191625" y="4572000"/>
            <a:ext cx="133350" cy="152400"/>
          </a:xfrm>
          <a:prstGeom prst="rect">
            <a:avLst/>
          </a:prstGeom>
          <a:solidFill>
            <a:srgbClr val="DDDDDD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42AED0D-7ECE-442F-B88B-6F37D33AACC4}"/>
              </a:ext>
            </a:extLst>
          </p:cNvPr>
          <p:cNvSpPr>
            <a:spLocks noGrp="1"/>
          </p:cNvSpPr>
          <p:nvPr/>
        </p:nvSpPr>
        <p:spPr>
          <a:xfrm>
            <a:off x="9601200" y="3733800"/>
            <a:ext cx="133350" cy="314325"/>
          </a:xfrm>
          <a:prstGeom prst="rect">
            <a:avLst/>
          </a:prstGeom>
          <a:solidFill>
            <a:srgbClr val="DDDDDD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F24A353-5BD5-4BCB-847C-69D759F3F2D1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3350" cy="190500"/>
          </a:xfrm>
          <a:prstGeom prst="rect">
            <a:avLst/>
          </a:prstGeom>
          <a:solidFill>
            <a:srgbClr val="DDDDDD"/>
          </a:solidFill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7FF37F7-A96B-4E73-AC64-0BCAC8FFE600}"/>
              </a:ext>
            </a:extLst>
          </p:cNvPr>
          <p:cNvSpPr>
            <a:spLocks noGrp="1"/>
          </p:cNvSpPr>
          <p:nvPr/>
        </p:nvSpPr>
        <p:spPr>
          <a:xfrm>
            <a:off x="7391400" y="4162425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金利レグ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8CFC26F-BEA5-45E4-B5F1-73C2A4A0781C}"/>
              </a:ext>
            </a:extLst>
          </p:cNvPr>
          <p:cNvSpPr>
            <a:spLocks noGrp="1"/>
          </p:cNvSpPr>
          <p:nvPr/>
        </p:nvSpPr>
        <p:spPr>
          <a:xfrm>
            <a:off x="7391400" y="488632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C9D093A3-3BE2-44BA-92CE-10D0474EEC71}"/>
              </a:ext>
            </a:extLst>
          </p:cNvPr>
          <p:cNvSpPr>
            <a:spLocks noGrp="1"/>
          </p:cNvSpPr>
          <p:nvPr/>
        </p:nvSpPr>
        <p:spPr>
          <a:xfrm>
            <a:off x="9496425" y="4886325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将来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B896DD6-8DAE-4416-A1C2-14B35743D4A9}"/>
              </a:ext>
            </a:extLst>
          </p:cNvPr>
          <p:cNvSpPr>
            <a:spLocks noGrp="1"/>
          </p:cNvSpPr>
          <p:nvPr/>
        </p:nvSpPr>
        <p:spPr>
          <a:xfrm>
            <a:off x="7915275" y="5276850"/>
            <a:ext cx="1714500" cy="4476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59C688E-91F5-4273-9C91-07FB853D1B06}"/>
              </a:ext>
            </a:extLst>
          </p:cNvPr>
          <p:cNvSpPr>
            <a:spLocks noGrp="1"/>
          </p:cNvSpPr>
          <p:nvPr/>
        </p:nvSpPr>
        <p:spPr>
          <a:xfrm>
            <a:off x="7991475" y="532447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NAV</a:t>
            </a:r>
          </a:p>
        </p:txBody>
      </p:sp>
      <p:sp>
        <p:nvSpPr>
          <p:cNvPr id="54" name="直線コネクタ 53">
            <a:extLst>
              <a:ext uri="{FF2B5EF4-FFF2-40B4-BE49-F238E27FC236}">
                <a16:creationId xmlns:a16="http://schemas.microsoft.com/office/drawing/2014/main" id="{C2872AEF-819F-4D3C-B53E-8B1F53A0EAD9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996315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F54E348-6FCF-4D8F-AD3D-B48FB9AC735D}"/>
              </a:ext>
            </a:extLst>
          </p:cNvPr>
          <p:cNvSpPr>
            <a:spLocks noGrp="1"/>
          </p:cNvSpPr>
          <p:nvPr/>
        </p:nvSpPr>
        <p:spPr>
          <a:xfrm>
            <a:off x="361950" y="6315075"/>
            <a:ext cx="9963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エクセルEUC管理からの脱却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056D7C95-2278-44F6-B72F-6E2E2D539671}"/>
              </a:ext>
            </a:extLst>
          </p:cNvPr>
          <p:cNvSpPr>
            <a:spLocks noGrp="1"/>
          </p:cNvSpPr>
          <p:nvPr/>
        </p:nvSpPr>
        <p:spPr>
          <a:xfrm>
            <a:off x="371475" y="6791325"/>
            <a:ext cx="9858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契約データと評価計算を一元化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01FB02F0-C034-4AFD-AEF5-0BCB83391748}"/>
              </a:ext>
            </a:extLst>
          </p:cNvPr>
          <p:cNvSpPr>
            <a:spLocks noGrp="1"/>
          </p:cNvSpPr>
          <p:nvPr/>
        </p:nvSpPr>
        <p:spPr>
          <a:xfrm>
            <a:off x="10077450" y="7286625"/>
            <a:ext cx="2476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182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D181EDA5-2A7C-423F-AFC6-8A34ABD56412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2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 U R I E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45046287-F297-4F3B-AFED-877245755149}"/>
              </a:ext>
            </a:extLst>
          </p:cNvPr>
          <p:cNvSpPr>
            <a:spLocks noGrp="1"/>
          </p:cNvSpPr>
          <p:nvPr/>
        </p:nvSpPr>
        <p:spPr>
          <a:xfrm>
            <a:off x="361950" y="514350"/>
            <a:ext cx="996315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63FE070-E459-4845-BD10-C2404C733FE1}"/>
              </a:ext>
            </a:extLst>
          </p:cNvPr>
          <p:cNvSpPr>
            <a:spLocks noGrp="1"/>
          </p:cNvSpPr>
          <p:nvPr/>
        </p:nvSpPr>
        <p:spPr>
          <a:xfrm>
            <a:off x="361950" y="714375"/>
            <a:ext cx="9963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債券オファーシートのカスタマイズ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7D7D3A-0C1C-4F17-A6EC-29AB4A7D4020}"/>
              </a:ext>
            </a:extLst>
          </p:cNvPr>
          <p:cNvSpPr>
            <a:spLocks noGrp="1"/>
          </p:cNvSpPr>
          <p:nvPr/>
        </p:nvSpPr>
        <p:spPr>
          <a:xfrm>
            <a:off x="361950" y="1466850"/>
            <a:ext cx="50482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F7A7B0-6AE8-4391-A7F7-244918122BBE}"/>
              </a:ext>
            </a:extLst>
          </p:cNvPr>
          <p:cNvSpPr>
            <a:spLocks noGrp="1"/>
          </p:cNvSpPr>
          <p:nvPr/>
        </p:nvSpPr>
        <p:spPr>
          <a:xfrm>
            <a:off x="361950" y="1466850"/>
            <a:ext cx="50482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3789E8C-5A55-476C-BA0A-6D60282041B7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E52D6E-5843-4B82-94E0-55F87E67A3C4}"/>
              </a:ext>
            </a:extLst>
          </p:cNvPr>
          <p:cNvSpPr>
            <a:spLocks noGrp="1"/>
          </p:cNvSpPr>
          <p:nvPr/>
        </p:nvSpPr>
        <p:spPr>
          <a:xfrm>
            <a:off x="828675" y="1533525"/>
            <a:ext cx="45053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入力データ・スプレッド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77B2E885-CD69-44E5-8D65-D9D49C38EC4E}"/>
              </a:ext>
            </a:extLst>
          </p:cNvPr>
          <p:cNvSpPr>
            <a:spLocks noGrp="1"/>
          </p:cNvSpPr>
          <p:nvPr/>
        </p:nvSpPr>
        <p:spPr>
          <a:xfrm>
            <a:off x="5476875" y="3076575"/>
            <a:ext cx="171450" cy="1371600"/>
          </a:xfrm>
          <a:custGeom>
            <a:avLst/>
            <a:gdLst/>
            <a:ahLst/>
            <a:cxnLst/>
            <a:rect l="0" t="0" r="0" b="0"/>
            <a:pathLst>
              <a:path w="171450" h="1371600">
                <a:moveTo>
                  <a:pt x="0" y="0"/>
                </a:moveTo>
                <a:lnTo>
                  <a:pt x="171450" y="6858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28F980B-11F4-442D-8EF2-3ABCC60C9B8F}"/>
              </a:ext>
            </a:extLst>
          </p:cNvPr>
          <p:cNvSpPr>
            <a:spLocks noGrp="1"/>
          </p:cNvSpPr>
          <p:nvPr/>
        </p:nvSpPr>
        <p:spPr>
          <a:xfrm>
            <a:off x="5734050" y="1466850"/>
            <a:ext cx="14668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00AB1A-3C70-4C21-8515-F1679E8EFBD0}"/>
              </a:ext>
            </a:extLst>
          </p:cNvPr>
          <p:cNvSpPr>
            <a:spLocks noGrp="1"/>
          </p:cNvSpPr>
          <p:nvPr/>
        </p:nvSpPr>
        <p:spPr>
          <a:xfrm>
            <a:off x="5734050" y="1466850"/>
            <a:ext cx="14668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05FCF27-DAAA-4F29-9E07-01C578F0FC0E}"/>
              </a:ext>
            </a:extLst>
          </p:cNvPr>
          <p:cNvSpPr>
            <a:spLocks noGrp="1"/>
          </p:cNvSpPr>
          <p:nvPr/>
        </p:nvSpPr>
        <p:spPr>
          <a:xfrm>
            <a:off x="58483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202AF40-AC96-48D7-B62D-A42BD5E828A9}"/>
              </a:ext>
            </a:extLst>
          </p:cNvPr>
          <p:cNvSpPr>
            <a:spLocks noGrp="1"/>
          </p:cNvSpPr>
          <p:nvPr/>
        </p:nvSpPr>
        <p:spPr>
          <a:xfrm>
            <a:off x="6200775" y="1533525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AIの絞込み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C31444A5-9D02-45DC-B2FD-F66231C73563}"/>
              </a:ext>
            </a:extLst>
          </p:cNvPr>
          <p:cNvSpPr>
            <a:spLocks noGrp="1"/>
          </p:cNvSpPr>
          <p:nvPr/>
        </p:nvSpPr>
        <p:spPr>
          <a:xfrm>
            <a:off x="7267575" y="3076575"/>
            <a:ext cx="171450" cy="1371600"/>
          </a:xfrm>
          <a:custGeom>
            <a:avLst/>
            <a:gdLst/>
            <a:ahLst/>
            <a:cxnLst/>
            <a:rect l="0" t="0" r="0" b="0"/>
            <a:pathLst>
              <a:path w="171450" h="1371600">
                <a:moveTo>
                  <a:pt x="0" y="0"/>
                </a:moveTo>
                <a:lnTo>
                  <a:pt x="171450" y="6858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FAB6B93-D6F2-49E4-88A7-5EFBC507C372}"/>
              </a:ext>
            </a:extLst>
          </p:cNvPr>
          <p:cNvSpPr>
            <a:spLocks noGrp="1"/>
          </p:cNvSpPr>
          <p:nvPr/>
        </p:nvSpPr>
        <p:spPr>
          <a:xfrm>
            <a:off x="7524750" y="1466850"/>
            <a:ext cx="28003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2876EFD-F4C7-4836-8438-4EC2B908B832}"/>
              </a:ext>
            </a:extLst>
          </p:cNvPr>
          <p:cNvSpPr>
            <a:spLocks noGrp="1"/>
          </p:cNvSpPr>
          <p:nvPr/>
        </p:nvSpPr>
        <p:spPr>
          <a:xfrm>
            <a:off x="7524750" y="1466850"/>
            <a:ext cx="28003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3B9DEA0-196C-407E-9218-37ED7E48207D}"/>
              </a:ext>
            </a:extLst>
          </p:cNvPr>
          <p:cNvSpPr>
            <a:spLocks noGrp="1"/>
          </p:cNvSpPr>
          <p:nvPr/>
        </p:nvSpPr>
        <p:spPr>
          <a:xfrm>
            <a:off x="76390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53833D6-A4CD-422A-89DE-F8D02CA4D685}"/>
              </a:ext>
            </a:extLst>
          </p:cNvPr>
          <p:cNvSpPr>
            <a:spLocks noGrp="1"/>
          </p:cNvSpPr>
          <p:nvPr/>
        </p:nvSpPr>
        <p:spPr>
          <a:xfrm>
            <a:off x="7991475" y="1533525"/>
            <a:ext cx="22574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ファンド別の出力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2C02884-8DB6-42FF-9CAC-2CF84BE7F44C}"/>
              </a:ext>
            </a:extLst>
          </p:cNvPr>
          <p:cNvSpPr>
            <a:spLocks noGrp="1"/>
          </p:cNvSpPr>
          <p:nvPr/>
        </p:nvSpPr>
        <p:spPr>
          <a:xfrm>
            <a:off x="485775" y="2095500"/>
            <a:ext cx="1524000" cy="495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6C589DA-D601-41BB-96E2-FFDF48145471}"/>
              </a:ext>
            </a:extLst>
          </p:cNvPr>
          <p:cNvSpPr>
            <a:spLocks noGrp="1"/>
          </p:cNvSpPr>
          <p:nvPr/>
        </p:nvSpPr>
        <p:spPr>
          <a:xfrm>
            <a:off x="561975" y="2143125"/>
            <a:ext cx="1371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オファーデータ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48BAA72-E719-4BC0-B24C-5F494BBCE1ED}"/>
              </a:ext>
            </a:extLst>
          </p:cNvPr>
          <p:cNvSpPr>
            <a:spLocks noGrp="1"/>
          </p:cNvSpPr>
          <p:nvPr/>
        </p:nvSpPr>
        <p:spPr>
          <a:xfrm>
            <a:off x="2124075" y="2095500"/>
            <a:ext cx="1524000" cy="495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D1DC75A-0A9D-4E1A-9BC7-1153D8C1DA66}"/>
              </a:ext>
            </a:extLst>
          </p:cNvPr>
          <p:cNvSpPr>
            <a:spLocks noGrp="1"/>
          </p:cNvSpPr>
          <p:nvPr/>
        </p:nvSpPr>
        <p:spPr>
          <a:xfrm>
            <a:off x="2200275" y="2143125"/>
            <a:ext cx="1371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クレジット</a:t>
            </a:r>
          </a:p>
          <a:p>
            <a: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レポート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786FB81-CF49-4D8C-BA5E-C9C9FC5F8D86}"/>
              </a:ext>
            </a:extLst>
          </p:cNvPr>
          <p:cNvSpPr>
            <a:spLocks noGrp="1"/>
          </p:cNvSpPr>
          <p:nvPr/>
        </p:nvSpPr>
        <p:spPr>
          <a:xfrm>
            <a:off x="3762375" y="2095500"/>
            <a:ext cx="1524000" cy="495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AA95BAC-7CA5-409E-B106-B6432BB94488}"/>
              </a:ext>
            </a:extLst>
          </p:cNvPr>
          <p:cNvSpPr>
            <a:spLocks noGrp="1"/>
          </p:cNvSpPr>
          <p:nvPr/>
        </p:nvSpPr>
        <p:spPr>
          <a:xfrm>
            <a:off x="3838575" y="2143125"/>
            <a:ext cx="1371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ファンド毎</a:t>
            </a:r>
          </a:p>
          <a:p>
            <a:pPr algn="ctr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クライテリア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B53AACD-3DA5-4C06-87D5-CCBF902F044F}"/>
              </a:ext>
            </a:extLst>
          </p:cNvPr>
          <p:cNvSpPr>
            <a:spLocks noGrp="1"/>
          </p:cNvSpPr>
          <p:nvPr/>
        </p:nvSpPr>
        <p:spPr>
          <a:xfrm>
            <a:off x="495300" y="2714625"/>
            <a:ext cx="1514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銘柄・価格・数量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8266911-7203-4DF4-97CE-0DC7AD735A53}"/>
              </a:ext>
            </a:extLst>
          </p:cNvPr>
          <p:cNvSpPr>
            <a:spLocks noGrp="1"/>
          </p:cNvSpPr>
          <p:nvPr/>
        </p:nvSpPr>
        <p:spPr>
          <a:xfrm>
            <a:off x="2124075" y="27146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信用情報・出典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B2E7BCF-46E4-4937-AA18-DBDAF67A0467}"/>
              </a:ext>
            </a:extLst>
          </p:cNvPr>
          <p:cNvSpPr>
            <a:spLocks noGrp="1"/>
          </p:cNvSpPr>
          <p:nvPr/>
        </p:nvSpPr>
        <p:spPr>
          <a:xfrm>
            <a:off x="3695700" y="2667000"/>
            <a:ext cx="16573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通貨・年限・格付け</a:t>
            </a:r>
          </a:p>
          <a:p>
            <a:pPr algn="ctr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スプレッド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00A983C-846A-4636-A854-D073412D9061}"/>
              </a:ext>
            </a:extLst>
          </p:cNvPr>
          <p:cNvSpPr>
            <a:spLocks noGrp="1"/>
          </p:cNvSpPr>
          <p:nvPr/>
        </p:nvSpPr>
        <p:spPr>
          <a:xfrm>
            <a:off x="2619375" y="3105150"/>
            <a:ext cx="523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F079B8F-CF8E-4AE0-8D0A-96F43AB5752D}"/>
              </a:ext>
            </a:extLst>
          </p:cNvPr>
          <p:cNvSpPr>
            <a:spLocks noGrp="1"/>
          </p:cNvSpPr>
          <p:nvPr/>
        </p:nvSpPr>
        <p:spPr>
          <a:xfrm>
            <a:off x="523875" y="3590925"/>
            <a:ext cx="4724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クレジットスプレッド（ASW）</a:t>
            </a:r>
          </a:p>
          <a:p>
            <a:pPr algn="ctr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＋外貨ベーシススプレッド</a:t>
            </a:r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BC740BE4-1757-4603-8C17-90FC9D5B33BD}"/>
              </a:ext>
            </a:extLst>
          </p:cNvPr>
          <p:cNvSpPr>
            <a:spLocks noGrp="1"/>
          </p:cNvSpPr>
          <p:nvPr/>
        </p:nvSpPr>
        <p:spPr>
          <a:xfrm>
            <a:off x="904875" y="4314825"/>
            <a:ext cx="0" cy="1104900"/>
          </a:xfrm>
          <a:prstGeom prst="line">
            <a:avLst/>
          </a:prstGeom>
          <a:noFill/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D607305F-0502-4CCB-A574-852828A8323C}"/>
              </a:ext>
            </a:extLst>
          </p:cNvPr>
          <p:cNvSpPr>
            <a:spLocks noGrp="1"/>
          </p:cNvSpPr>
          <p:nvPr/>
        </p:nvSpPr>
        <p:spPr>
          <a:xfrm>
            <a:off x="904875" y="5419725"/>
            <a:ext cx="4048125" cy="0"/>
          </a:xfrm>
          <a:prstGeom prst="line">
            <a:avLst/>
          </a:prstGeom>
          <a:noFill/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7C5289EF-D897-4A50-9341-FBB86DB60EA4}"/>
              </a:ext>
            </a:extLst>
          </p:cNvPr>
          <p:cNvSpPr>
            <a:spLocks noGrp="1"/>
          </p:cNvSpPr>
          <p:nvPr/>
        </p:nvSpPr>
        <p:spPr>
          <a:xfrm>
            <a:off x="904875" y="4314825"/>
            <a:ext cx="4048125" cy="1104900"/>
          </a:xfrm>
          <a:custGeom>
            <a:avLst/>
            <a:gdLst/>
            <a:ahLst/>
            <a:cxnLst/>
            <a:rect l="0" t="0" r="0" b="0"/>
            <a:pathLst>
              <a:path w="4048125" h="1104900">
                <a:moveTo>
                  <a:pt x="0" y="1104900"/>
                </a:moveTo>
                <a:cubicBezTo>
                  <a:pt x="952500" y="676275"/>
                  <a:pt x="2428875" y="190500"/>
                  <a:pt x="4048125" y="123825"/>
                </a:cubicBezTo>
              </a:path>
            </a:pathLst>
          </a:custGeom>
          <a:noFill/>
          <a:ln w="23813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31DF946B-5D6F-4CE2-8DD1-1C262DEE0A6A}"/>
              </a:ext>
            </a:extLst>
          </p:cNvPr>
          <p:cNvSpPr>
            <a:spLocks noGrp="1"/>
          </p:cNvSpPr>
          <p:nvPr/>
        </p:nvSpPr>
        <p:spPr>
          <a:xfrm>
            <a:off x="904875" y="4314825"/>
            <a:ext cx="4048125" cy="1104900"/>
          </a:xfrm>
          <a:custGeom>
            <a:avLst/>
            <a:gdLst/>
            <a:ahLst/>
            <a:cxnLst/>
            <a:rect l="0" t="0" r="0" b="0"/>
            <a:pathLst>
              <a:path w="4048125" h="1104900">
                <a:moveTo>
                  <a:pt x="0" y="666750"/>
                </a:moveTo>
                <a:cubicBezTo>
                  <a:pt x="952500" y="238125"/>
                  <a:pt x="2428875" y="80963"/>
                  <a:pt x="4048125" y="14288"/>
                </a:cubicBezTo>
              </a:path>
            </a:pathLst>
          </a:custGeom>
          <a:noFill/>
          <a:ln w="23813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20587F6-0299-476F-8C67-CEE81632B2A4}"/>
              </a:ext>
            </a:extLst>
          </p:cNvPr>
          <p:cNvSpPr>
            <a:spLocks noGrp="1"/>
          </p:cNvSpPr>
          <p:nvPr/>
        </p:nvSpPr>
        <p:spPr>
          <a:xfrm>
            <a:off x="3476625" y="5057775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OISカーブ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33B3B0E-3E99-4EB9-BAF3-2E1C2E4928DF}"/>
              </a:ext>
            </a:extLst>
          </p:cNvPr>
          <p:cNvSpPr>
            <a:spLocks noGrp="1"/>
          </p:cNvSpPr>
          <p:nvPr/>
        </p:nvSpPr>
        <p:spPr>
          <a:xfrm>
            <a:off x="1647825" y="4562475"/>
            <a:ext cx="2638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ASW＋外貨ベーシス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B63ED0B-5266-4AEE-9585-C28268D7A010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利回り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03313D2-B845-4A90-B74D-B1E236D8D529}"/>
              </a:ext>
            </a:extLst>
          </p:cNvPr>
          <p:cNvSpPr>
            <a:spLocks noGrp="1"/>
          </p:cNvSpPr>
          <p:nvPr/>
        </p:nvSpPr>
        <p:spPr>
          <a:xfrm>
            <a:off x="4476750" y="54864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年限</a:t>
            </a:r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32D1ED81-FAC4-43DD-8A1C-50B657494E8A}"/>
              </a:ext>
            </a:extLst>
          </p:cNvPr>
          <p:cNvSpPr>
            <a:spLocks noGrp="1"/>
          </p:cNvSpPr>
          <p:nvPr/>
        </p:nvSpPr>
        <p:spPr>
          <a:xfrm>
            <a:off x="5934075" y="2571750"/>
            <a:ext cx="1066800" cy="2133600"/>
          </a:xfrm>
          <a:custGeom>
            <a:avLst/>
            <a:gdLst/>
            <a:ahLst/>
            <a:cxnLst/>
            <a:rect l="0" t="0" r="0" b="0"/>
            <a:pathLst>
              <a:path w="1066800" h="2133600">
                <a:moveTo>
                  <a:pt x="0" y="0"/>
                </a:moveTo>
                <a:lnTo>
                  <a:pt x="1066800" y="733425"/>
                </a:lnTo>
                <a:lnTo>
                  <a:pt x="1066800" y="1400175"/>
                </a:lnTo>
                <a:lnTo>
                  <a:pt x="0" y="213360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14288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9F24FCE-D880-4E55-AF5B-C0BBBC67E05E}"/>
              </a:ext>
            </a:extLst>
          </p:cNvPr>
          <p:cNvSpPr>
            <a:spLocks noGrp="1"/>
          </p:cNvSpPr>
          <p:nvPr/>
        </p:nvSpPr>
        <p:spPr>
          <a:xfrm>
            <a:off x="5991225" y="3238500"/>
            <a:ext cx="933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2175" b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75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AI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02ED556-6F76-40CF-BA38-21F374ADEB31}"/>
              </a:ext>
            </a:extLst>
          </p:cNvPr>
          <p:cNvSpPr>
            <a:spLocks noGrp="1"/>
          </p:cNvSpPr>
          <p:nvPr/>
        </p:nvSpPr>
        <p:spPr>
          <a:xfrm>
            <a:off x="5924550" y="3695700"/>
            <a:ext cx="1066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18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Claude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BA46749-98F9-4CDA-B5A1-99BD420E233C}"/>
              </a:ext>
            </a:extLst>
          </p:cNvPr>
          <p:cNvSpPr>
            <a:spLocks noGrp="1"/>
          </p:cNvSpPr>
          <p:nvPr/>
        </p:nvSpPr>
        <p:spPr>
          <a:xfrm>
            <a:off x="5857875" y="5019675"/>
            <a:ext cx="1219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条件で</a:t>
            </a:r>
          </a:p>
          <a:p>
            <a:pPr algn="ctr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絞込み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C6A12FE-2E15-4D09-8565-6C99E460DA16}"/>
              </a:ext>
            </a:extLst>
          </p:cNvPr>
          <p:cNvSpPr>
            <a:spLocks noGrp="1"/>
          </p:cNvSpPr>
          <p:nvPr/>
        </p:nvSpPr>
        <p:spPr>
          <a:xfrm>
            <a:off x="7696200" y="2095500"/>
            <a:ext cx="20764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9A4C7BA-363F-4F82-BA0F-2B3C5F582DB3}"/>
              </a:ext>
            </a:extLst>
          </p:cNvPr>
          <p:cNvSpPr>
            <a:spLocks noGrp="1"/>
          </p:cNvSpPr>
          <p:nvPr/>
        </p:nvSpPr>
        <p:spPr>
          <a:xfrm>
            <a:off x="7800975" y="2162175"/>
            <a:ext cx="1857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ファンドA</a:t>
            </a:r>
          </a:p>
        </p:txBody>
      </p:sp>
      <p:sp>
        <p:nvSpPr>
          <p:cNvPr id="43" name="直線コネクタ 42">
            <a:extLst>
              <a:ext uri="{FF2B5EF4-FFF2-40B4-BE49-F238E27FC236}">
                <a16:creationId xmlns:a16="http://schemas.microsoft.com/office/drawing/2014/main" id="{E128B075-D0AD-458C-BEC5-58DE72D94FFB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直線コネクタ 43">
            <a:extLst>
              <a:ext uri="{FF2B5EF4-FFF2-40B4-BE49-F238E27FC236}">
                <a16:creationId xmlns:a16="http://schemas.microsoft.com/office/drawing/2014/main" id="{D25686AA-3BBA-42AF-A7DF-B26DEE62FE93}"/>
              </a:ext>
            </a:extLst>
          </p:cNvPr>
          <p:cNvSpPr>
            <a:spLocks noGrp="1"/>
          </p:cNvSpPr>
          <p:nvPr/>
        </p:nvSpPr>
        <p:spPr>
          <a:xfrm>
            <a:off x="7810500" y="2771775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直線コネクタ 44">
            <a:extLst>
              <a:ext uri="{FF2B5EF4-FFF2-40B4-BE49-F238E27FC236}">
                <a16:creationId xmlns:a16="http://schemas.microsoft.com/office/drawing/2014/main" id="{01427AA4-DA62-4459-8396-2C8A93C53218}"/>
              </a:ext>
            </a:extLst>
          </p:cNvPr>
          <p:cNvSpPr>
            <a:spLocks noGrp="1"/>
          </p:cNvSpPr>
          <p:nvPr/>
        </p:nvSpPr>
        <p:spPr>
          <a:xfrm>
            <a:off x="7810500" y="2990850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D340E96-75F5-4925-BD7A-27611E05649D}"/>
              </a:ext>
            </a:extLst>
          </p:cNvPr>
          <p:cNvSpPr>
            <a:spLocks noGrp="1"/>
          </p:cNvSpPr>
          <p:nvPr/>
        </p:nvSpPr>
        <p:spPr>
          <a:xfrm>
            <a:off x="7886700" y="2552700"/>
            <a:ext cx="20764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5BEB1B9F-F9D2-474E-907F-0AA3CB7EEB54}"/>
              </a:ext>
            </a:extLst>
          </p:cNvPr>
          <p:cNvSpPr>
            <a:spLocks noGrp="1"/>
          </p:cNvSpPr>
          <p:nvPr/>
        </p:nvSpPr>
        <p:spPr>
          <a:xfrm>
            <a:off x="7991475" y="2619375"/>
            <a:ext cx="1857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ファンドB</a:t>
            </a:r>
          </a:p>
        </p:txBody>
      </p:sp>
      <p:sp>
        <p:nvSpPr>
          <p:cNvPr id="48" name="直線コネクタ 47">
            <a:extLst>
              <a:ext uri="{FF2B5EF4-FFF2-40B4-BE49-F238E27FC236}">
                <a16:creationId xmlns:a16="http://schemas.microsoft.com/office/drawing/2014/main" id="{B749618E-882D-4353-92D1-855F067C7044}"/>
              </a:ext>
            </a:extLst>
          </p:cNvPr>
          <p:cNvSpPr>
            <a:spLocks noGrp="1"/>
          </p:cNvSpPr>
          <p:nvPr/>
        </p:nvSpPr>
        <p:spPr>
          <a:xfrm>
            <a:off x="8001000" y="3009900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直線コネクタ 48">
            <a:extLst>
              <a:ext uri="{FF2B5EF4-FFF2-40B4-BE49-F238E27FC236}">
                <a16:creationId xmlns:a16="http://schemas.microsoft.com/office/drawing/2014/main" id="{0266EF43-2B3F-49CA-B496-62F45FF1F2E0}"/>
              </a:ext>
            </a:extLst>
          </p:cNvPr>
          <p:cNvSpPr>
            <a:spLocks noGrp="1"/>
          </p:cNvSpPr>
          <p:nvPr/>
        </p:nvSpPr>
        <p:spPr>
          <a:xfrm>
            <a:off x="8001000" y="3228975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直線コネクタ 49">
            <a:extLst>
              <a:ext uri="{FF2B5EF4-FFF2-40B4-BE49-F238E27FC236}">
                <a16:creationId xmlns:a16="http://schemas.microsoft.com/office/drawing/2014/main" id="{89CF217B-28F2-42A9-AFCD-8253C14F092D}"/>
              </a:ext>
            </a:extLst>
          </p:cNvPr>
          <p:cNvSpPr>
            <a:spLocks noGrp="1"/>
          </p:cNvSpPr>
          <p:nvPr/>
        </p:nvSpPr>
        <p:spPr>
          <a:xfrm>
            <a:off x="8001000" y="3448050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82EAABB-629F-408F-8711-48E6CA094D40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20764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D9E5795-5292-41D0-BD50-87F39075B309}"/>
              </a:ext>
            </a:extLst>
          </p:cNvPr>
          <p:cNvSpPr>
            <a:spLocks noGrp="1"/>
          </p:cNvSpPr>
          <p:nvPr/>
        </p:nvSpPr>
        <p:spPr>
          <a:xfrm>
            <a:off x="8181975" y="3076575"/>
            <a:ext cx="1857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ファンドC</a:t>
            </a:r>
          </a:p>
        </p:txBody>
      </p:sp>
      <p:sp>
        <p:nvSpPr>
          <p:cNvPr id="53" name="直線コネクタ 52">
            <a:extLst>
              <a:ext uri="{FF2B5EF4-FFF2-40B4-BE49-F238E27FC236}">
                <a16:creationId xmlns:a16="http://schemas.microsoft.com/office/drawing/2014/main" id="{02012878-9F03-4147-A6B5-FB31EAB08229}"/>
              </a:ext>
            </a:extLst>
          </p:cNvPr>
          <p:cNvSpPr>
            <a:spLocks noGrp="1"/>
          </p:cNvSpPr>
          <p:nvPr/>
        </p:nvSpPr>
        <p:spPr>
          <a:xfrm>
            <a:off x="8191500" y="3467100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直線コネクタ 53">
            <a:extLst>
              <a:ext uri="{FF2B5EF4-FFF2-40B4-BE49-F238E27FC236}">
                <a16:creationId xmlns:a16="http://schemas.microsoft.com/office/drawing/2014/main" id="{41538326-5D0E-4422-B062-1F6E7483949B}"/>
              </a:ext>
            </a:extLst>
          </p:cNvPr>
          <p:cNvSpPr>
            <a:spLocks noGrp="1"/>
          </p:cNvSpPr>
          <p:nvPr/>
        </p:nvSpPr>
        <p:spPr>
          <a:xfrm>
            <a:off x="8191500" y="3686175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直線コネクタ 54">
            <a:extLst>
              <a:ext uri="{FF2B5EF4-FFF2-40B4-BE49-F238E27FC236}">
                <a16:creationId xmlns:a16="http://schemas.microsoft.com/office/drawing/2014/main" id="{5ECA8E66-C03E-462B-AC2B-CB22A5CBF727}"/>
              </a:ext>
            </a:extLst>
          </p:cNvPr>
          <p:cNvSpPr>
            <a:spLocks noGrp="1"/>
          </p:cNvSpPr>
          <p:nvPr/>
        </p:nvSpPr>
        <p:spPr>
          <a:xfrm>
            <a:off x="8191500" y="3905250"/>
            <a:ext cx="182880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6C28F5AB-1C9A-433E-91C6-E72A4657C4A2}"/>
              </a:ext>
            </a:extLst>
          </p:cNvPr>
          <p:cNvSpPr>
            <a:spLocks noGrp="1"/>
          </p:cNvSpPr>
          <p:nvPr/>
        </p:nvSpPr>
        <p:spPr>
          <a:xfrm>
            <a:off x="7639050" y="437197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Excelオファーシート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1E71F1E3-CAEE-47F3-9734-8178C3DDF676}"/>
              </a:ext>
            </a:extLst>
          </p:cNvPr>
          <p:cNvSpPr>
            <a:spLocks noGrp="1"/>
          </p:cNvSpPr>
          <p:nvPr/>
        </p:nvSpPr>
        <p:spPr>
          <a:xfrm>
            <a:off x="7686675" y="4867275"/>
            <a:ext cx="2476500" cy="6286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F4BEC8C-3326-45CA-99B2-27D756A40146}"/>
              </a:ext>
            </a:extLst>
          </p:cNvPr>
          <p:cNvSpPr>
            <a:spLocks noGrp="1"/>
          </p:cNvSpPr>
          <p:nvPr/>
        </p:nvSpPr>
        <p:spPr>
          <a:xfrm>
            <a:off x="7762875" y="4914900"/>
            <a:ext cx="23241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クレジットレポート</a:t>
            </a:r>
          </a:p>
          <a:p>
            <a:pPr algn="ctr">
              <a:def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サマリー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39627BA-E6C7-475A-85DF-04CEB6950F2B}"/>
              </a:ext>
            </a:extLst>
          </p:cNvPr>
          <p:cNvSpPr>
            <a:spLocks noGrp="1"/>
          </p:cNvSpPr>
          <p:nvPr/>
        </p:nvSpPr>
        <p:spPr>
          <a:xfrm>
            <a:off x="7686675" y="55721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引用・出典付き</a:t>
            </a:r>
          </a:p>
        </p:txBody>
      </p:sp>
      <p:sp>
        <p:nvSpPr>
          <p:cNvPr id="60" name="直線コネクタ 59">
            <a:extLst>
              <a:ext uri="{FF2B5EF4-FFF2-40B4-BE49-F238E27FC236}">
                <a16:creationId xmlns:a16="http://schemas.microsoft.com/office/drawing/2014/main" id="{CB6B6C69-36E6-4D82-BED1-DD61A31FF9B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996315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5465EF1D-1741-429C-867C-BD9B4B60BF3C}"/>
              </a:ext>
            </a:extLst>
          </p:cNvPr>
          <p:cNvSpPr>
            <a:spLocks noGrp="1"/>
          </p:cNvSpPr>
          <p:nvPr/>
        </p:nvSpPr>
        <p:spPr>
          <a:xfrm>
            <a:off x="361950" y="6315075"/>
            <a:ext cx="9963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自動化によるビジネスチャンス拡大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4333327-0D7D-420A-8BEF-0C0D2DF19D48}"/>
              </a:ext>
            </a:extLst>
          </p:cNvPr>
          <p:cNvSpPr>
            <a:spLocks noGrp="1"/>
          </p:cNvSpPr>
          <p:nvPr/>
        </p:nvSpPr>
        <p:spPr>
          <a:xfrm>
            <a:off x="371475" y="6791325"/>
            <a:ext cx="9858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データ整備・業務効率の向上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EB314AF-0E44-4F4D-A97B-B4A63C7D8387}"/>
              </a:ext>
            </a:extLst>
          </p:cNvPr>
          <p:cNvSpPr>
            <a:spLocks noGrp="1"/>
          </p:cNvSpPr>
          <p:nvPr/>
        </p:nvSpPr>
        <p:spPr>
          <a:xfrm>
            <a:off x="371475" y="7048500"/>
            <a:ext cx="9858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オファーシートのカスタマイズに加え、AladdinへのAPI発注も検討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3F8E09AA-E5AA-4A86-AC2A-075AC3982A1D}"/>
              </a:ext>
            </a:extLst>
          </p:cNvPr>
          <p:cNvSpPr>
            <a:spLocks noGrp="1"/>
          </p:cNvSpPr>
          <p:nvPr/>
        </p:nvSpPr>
        <p:spPr>
          <a:xfrm>
            <a:off x="10077450" y="7286625"/>
            <a:ext cx="2476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210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3753466-CD36-4CD4-A2BB-B4672C265B91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2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 U R I E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43FCC63B-F056-4DF0-8927-D52247E2EC55}"/>
              </a:ext>
            </a:extLst>
          </p:cNvPr>
          <p:cNvSpPr>
            <a:spLocks noGrp="1"/>
          </p:cNvSpPr>
          <p:nvPr/>
        </p:nvSpPr>
        <p:spPr>
          <a:xfrm>
            <a:off x="361950" y="514350"/>
            <a:ext cx="996315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976523-BB05-4E9D-B4E2-FFFD38C0268E}"/>
              </a:ext>
            </a:extLst>
          </p:cNvPr>
          <p:cNvSpPr>
            <a:spLocks noGrp="1"/>
          </p:cNvSpPr>
          <p:nvPr/>
        </p:nvSpPr>
        <p:spPr>
          <a:xfrm>
            <a:off x="361950" y="714375"/>
            <a:ext cx="9963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FAIMS債券時価の妥当性検証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1BFF45C-F818-4404-A704-7C337AECFAD3}"/>
              </a:ext>
            </a:extLst>
          </p:cNvPr>
          <p:cNvSpPr>
            <a:spLocks noGrp="1"/>
          </p:cNvSpPr>
          <p:nvPr/>
        </p:nvSpPr>
        <p:spPr>
          <a:xfrm>
            <a:off x="361950" y="1466850"/>
            <a:ext cx="31051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0EB386-E56F-4854-8FDB-D75FC35082FE}"/>
              </a:ext>
            </a:extLst>
          </p:cNvPr>
          <p:cNvSpPr>
            <a:spLocks noGrp="1"/>
          </p:cNvSpPr>
          <p:nvPr/>
        </p:nvSpPr>
        <p:spPr>
          <a:xfrm>
            <a:off x="361950" y="1466850"/>
            <a:ext cx="31051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77F1557-F2DE-453F-95B2-C65FBCFD6D0D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31FB49-AAA0-4B6E-81EF-C5FA9106E901}"/>
              </a:ext>
            </a:extLst>
          </p:cNvPr>
          <p:cNvSpPr>
            <a:spLocks noGrp="1"/>
          </p:cNvSpPr>
          <p:nvPr/>
        </p:nvSpPr>
        <p:spPr>
          <a:xfrm>
            <a:off x="828675" y="1533525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FAIMS時価との比較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3D5CFD71-CD10-42F6-8E1D-92C2E97F7C0D}"/>
              </a:ext>
            </a:extLst>
          </p:cNvPr>
          <p:cNvSpPr>
            <a:spLocks noGrp="1"/>
          </p:cNvSpPr>
          <p:nvPr/>
        </p:nvSpPr>
        <p:spPr>
          <a:xfrm>
            <a:off x="3533775" y="3076575"/>
            <a:ext cx="171450" cy="1371600"/>
          </a:xfrm>
          <a:custGeom>
            <a:avLst/>
            <a:gdLst/>
            <a:ahLst/>
            <a:cxnLst/>
            <a:rect l="0" t="0" r="0" b="0"/>
            <a:pathLst>
              <a:path w="171450" h="1371600">
                <a:moveTo>
                  <a:pt x="0" y="0"/>
                </a:moveTo>
                <a:lnTo>
                  <a:pt x="171450" y="6858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937F533-0A8B-43F0-A678-2CF786BB2843}"/>
              </a:ext>
            </a:extLst>
          </p:cNvPr>
          <p:cNvSpPr>
            <a:spLocks noGrp="1"/>
          </p:cNvSpPr>
          <p:nvPr/>
        </p:nvSpPr>
        <p:spPr>
          <a:xfrm>
            <a:off x="3790950" y="1466850"/>
            <a:ext cx="31051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00284F-6BD6-4D1D-955E-A05A88966FA5}"/>
              </a:ext>
            </a:extLst>
          </p:cNvPr>
          <p:cNvSpPr>
            <a:spLocks noGrp="1"/>
          </p:cNvSpPr>
          <p:nvPr/>
        </p:nvSpPr>
        <p:spPr>
          <a:xfrm>
            <a:off x="3790950" y="1466850"/>
            <a:ext cx="31051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5D11F80-DBC1-43F9-909C-4AB816C24CF3}"/>
              </a:ext>
            </a:extLst>
          </p:cNvPr>
          <p:cNvSpPr>
            <a:spLocks noGrp="1"/>
          </p:cNvSpPr>
          <p:nvPr/>
        </p:nvSpPr>
        <p:spPr>
          <a:xfrm>
            <a:off x="3905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A26F2D-34FC-4526-BC26-38DDFD69ABF6}"/>
              </a:ext>
            </a:extLst>
          </p:cNvPr>
          <p:cNvSpPr>
            <a:spLocks noGrp="1"/>
          </p:cNvSpPr>
          <p:nvPr/>
        </p:nvSpPr>
        <p:spPr>
          <a:xfrm>
            <a:off x="4257675" y="1533525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クオンツによる検証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91F94815-A3D3-46AF-A3DE-F2290E1AE59F}"/>
              </a:ext>
            </a:extLst>
          </p:cNvPr>
          <p:cNvSpPr>
            <a:spLocks noGrp="1"/>
          </p:cNvSpPr>
          <p:nvPr/>
        </p:nvSpPr>
        <p:spPr>
          <a:xfrm>
            <a:off x="6962775" y="3076575"/>
            <a:ext cx="171450" cy="1371600"/>
          </a:xfrm>
          <a:custGeom>
            <a:avLst/>
            <a:gdLst/>
            <a:ahLst/>
            <a:cxnLst/>
            <a:rect l="0" t="0" r="0" b="0"/>
            <a:pathLst>
              <a:path w="171450" h="1371600">
                <a:moveTo>
                  <a:pt x="0" y="0"/>
                </a:moveTo>
                <a:lnTo>
                  <a:pt x="171450" y="6858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4DED637-6FB1-4514-8E7B-0AB48BD37E45}"/>
              </a:ext>
            </a:extLst>
          </p:cNvPr>
          <p:cNvSpPr>
            <a:spLocks noGrp="1"/>
          </p:cNvSpPr>
          <p:nvPr/>
        </p:nvSpPr>
        <p:spPr>
          <a:xfrm>
            <a:off x="7219950" y="1466850"/>
            <a:ext cx="31051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E52FB51-FA09-4356-8EAE-0F4F97C722CB}"/>
              </a:ext>
            </a:extLst>
          </p:cNvPr>
          <p:cNvSpPr>
            <a:spLocks noGrp="1"/>
          </p:cNvSpPr>
          <p:nvPr/>
        </p:nvSpPr>
        <p:spPr>
          <a:xfrm>
            <a:off x="7219950" y="1466850"/>
            <a:ext cx="3105150" cy="4095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F6592BC-3767-41A1-A1FA-B10F2BDDDE7B}"/>
              </a:ext>
            </a:extLst>
          </p:cNvPr>
          <p:cNvSpPr>
            <a:spLocks noGrp="1"/>
          </p:cNvSpPr>
          <p:nvPr/>
        </p:nvSpPr>
        <p:spPr>
          <a:xfrm>
            <a:off x="7334250" y="1533525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75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228AEE7-0606-46B2-99B5-D91526A5FF26}"/>
              </a:ext>
            </a:extLst>
          </p:cNvPr>
          <p:cNvSpPr>
            <a:spLocks noGrp="1"/>
          </p:cNvSpPr>
          <p:nvPr/>
        </p:nvSpPr>
        <p:spPr>
          <a:xfrm>
            <a:off x="7686675" y="1533525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Claudeの支援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D591938-023D-455C-A701-AFD959034CEF}"/>
              </a:ext>
            </a:extLst>
          </p:cNvPr>
          <p:cNvSpPr>
            <a:spLocks noGrp="1"/>
          </p:cNvSpPr>
          <p:nvPr/>
        </p:nvSpPr>
        <p:spPr>
          <a:xfrm>
            <a:off x="485775" y="210502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FAIMS債券時価</a:t>
            </a: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7EF97D67-A9AB-4E0D-83E6-B15CF98D30D9}"/>
              </a:ext>
            </a:extLst>
          </p:cNvPr>
          <p:cNvGraphicFramePr/>
          <p:nvPr/>
        </p:nvGraphicFramePr>
        <p:xfrm>
          <a:off x="485775" y="2533650"/>
          <a:ext cx="2857500" cy="1619250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区分</a:t>
                      </a:r>
                    </a:p>
                  </a:txBody>
                  <a:tcPr anchor="ctr">
                    <a:lnL w="9525">
                      <a:solidFill>
                        <a:srgbClr val="B7B7B7"/>
                      </a:solidFill>
                      <a:prstDash val="soli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>
                      <a:solidFill>
                        <a:srgbClr val="B7B7B7"/>
                      </a:solidFill>
                      <a:prstDash val="soli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FAIMS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時価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>
                      <a:solidFill>
                        <a:srgbClr val="B7B7B7"/>
                      </a:solidFill>
                      <a:prstDash val="soli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当社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FV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>
                      <a:solidFill>
                        <a:srgbClr val="B7B7B7"/>
                      </a:solidFill>
                      <a:prstDash val="soli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乖離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>
                      <a:solidFill>
                        <a:srgbClr val="B7B7B7"/>
                      </a:solidFill>
                      <a:prstDash val="soli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円債A</a:t>
                      </a:r>
                    </a:p>
                  </a:txBody>
                  <a:tcPr anchor="ctr">
                    <a:lnL w="9525">
                      <a:solidFill>
                        <a:srgbClr val="B7B7B7"/>
                      </a:solidFill>
                      <a:prstDash val="soli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円債B</a:t>
                      </a:r>
                    </a:p>
                  </a:txBody>
                  <a:tcPr anchor="ctr">
                    <a:lnL w="9525">
                      <a:solidFill>
                        <a:srgbClr val="B7B7B7"/>
                      </a:solidFill>
                      <a:prstDash val="soli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外債A</a:t>
                      </a:r>
                    </a:p>
                  </a:txBody>
                  <a:tcPr anchor="ctr">
                    <a:lnL w="9525">
                      <a:solidFill>
                        <a:srgbClr val="B7B7B7"/>
                      </a:solidFill>
                      <a:prstDash val="soli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外債B</a:t>
                      </a:r>
                    </a:p>
                  </a:txBody>
                  <a:tcPr anchor="ctr">
                    <a:lnL w="9525">
                      <a:solidFill>
                        <a:srgbClr val="B7B7B7"/>
                      </a:solidFill>
                      <a:prstDash val="soli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B7B7"/>
                      </a:solidFill>
                      <a:prstDash val="solid"/>
                    </a:lnR>
                    <a:lnT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D676059-267D-4BA9-80C5-A0B553E3FD4D}"/>
              </a:ext>
            </a:extLst>
          </p:cNvPr>
          <p:cNvSpPr>
            <a:spLocks noGrp="1"/>
          </p:cNvSpPr>
          <p:nvPr/>
        </p:nvSpPr>
        <p:spPr>
          <a:xfrm>
            <a:off x="485775" y="4495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円債・外債の採用時価を比較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8DDBFDF-E687-4517-81C7-055DDA2F3B3C}"/>
              </a:ext>
            </a:extLst>
          </p:cNvPr>
          <p:cNvSpPr>
            <a:spLocks noGrp="1"/>
          </p:cNvSpPr>
          <p:nvPr/>
        </p:nvSpPr>
        <p:spPr>
          <a:xfrm>
            <a:off x="485775" y="48958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信用情報・市場データ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6EEC95A-F21B-443F-BF0E-564FCB329371}"/>
              </a:ext>
            </a:extLst>
          </p:cNvPr>
          <p:cNvSpPr>
            <a:spLocks noGrp="1"/>
          </p:cNvSpPr>
          <p:nvPr/>
        </p:nvSpPr>
        <p:spPr>
          <a:xfrm>
            <a:off x="485775" y="52673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Moody’s / S&amp;P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4092D4C-3080-4562-B51F-C021FE96C885}"/>
              </a:ext>
            </a:extLst>
          </p:cNvPr>
          <p:cNvSpPr>
            <a:spLocks noGrp="1"/>
          </p:cNvSpPr>
          <p:nvPr/>
        </p:nvSpPr>
        <p:spPr>
          <a:xfrm>
            <a:off x="485775" y="559117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Bloomberg / MSCI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377B64D-684B-432D-9908-C73D47AB1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00" t="27000" r="41600" b="41000"/>
          <a:stretch/>
        </p:blipFill>
        <p:spPr>
          <a:xfrm>
            <a:off x="4410075" y="2076450"/>
            <a:ext cx="1866900" cy="2209800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0D02552-E29F-44C1-9C1A-F59EB09E2A5B}"/>
              </a:ext>
            </a:extLst>
          </p:cNvPr>
          <p:cNvSpPr>
            <a:spLocks noGrp="1"/>
          </p:cNvSpPr>
          <p:nvPr/>
        </p:nvSpPr>
        <p:spPr>
          <a:xfrm>
            <a:off x="3914775" y="44386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クレジットスプレッド・回収率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AEED086-24E8-470D-B8CE-8191E9686D4D}"/>
              </a:ext>
            </a:extLst>
          </p:cNvPr>
          <p:cNvSpPr>
            <a:spLocks noGrp="1"/>
          </p:cNvSpPr>
          <p:nvPr/>
        </p:nvSpPr>
        <p:spPr>
          <a:xfrm>
            <a:off x="3914775" y="4886325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格付け・劣後性・TLAC条項を考慮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19CCC93-E79F-435D-BBE0-C1E18BA4391D}"/>
              </a:ext>
            </a:extLst>
          </p:cNvPr>
          <p:cNvSpPr>
            <a:spLocks noGrp="1"/>
          </p:cNvSpPr>
          <p:nvPr/>
        </p:nvSpPr>
        <p:spPr>
          <a:xfrm>
            <a:off x="3914775" y="55435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ライブラリーで算出・検証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B3013C1-1620-4FAB-8B45-CC0728AFB191}"/>
              </a:ext>
            </a:extLst>
          </p:cNvPr>
          <p:cNvSpPr>
            <a:spLocks noGrp="1"/>
          </p:cNvSpPr>
          <p:nvPr/>
        </p:nvSpPr>
        <p:spPr>
          <a:xfrm>
            <a:off x="7915275" y="2181225"/>
            <a:ext cx="1714500" cy="6667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0F0"/>
              </a:gs>
            </a:gsLst>
            <a:lin ang="5400000"/>
          </a:gradFill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90D247F-E000-4F4E-B9E6-721AC095D7EF}"/>
              </a:ext>
            </a:extLst>
          </p:cNvPr>
          <p:cNvSpPr>
            <a:spLocks noGrp="1"/>
          </p:cNvSpPr>
          <p:nvPr/>
        </p:nvSpPr>
        <p:spPr>
          <a:xfrm>
            <a:off x="7991475" y="2228850"/>
            <a:ext cx="1562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ctr">
              <a:def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Claude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23E237E-255D-443E-8B5F-3DAC9CBD2010}"/>
              </a:ext>
            </a:extLst>
          </p:cNvPr>
          <p:cNvSpPr>
            <a:spLocks noGrp="1"/>
          </p:cNvSpPr>
          <p:nvPr/>
        </p:nvSpPr>
        <p:spPr>
          <a:xfrm>
            <a:off x="7391400" y="32099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信用情報の要約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5F7CBB3-F9E3-4108-B22E-A2C5210C829A}"/>
              </a:ext>
            </a:extLst>
          </p:cNvPr>
          <p:cNvSpPr>
            <a:spLocks noGrp="1"/>
          </p:cNvSpPr>
          <p:nvPr/>
        </p:nvSpPr>
        <p:spPr>
          <a:xfrm>
            <a:off x="7391400" y="37052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スプレッドの整合性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2C01098-4C6F-41DB-B3BA-04F82AA19EE1}"/>
              </a:ext>
            </a:extLst>
          </p:cNvPr>
          <p:cNvSpPr>
            <a:spLocks noGrp="1"/>
          </p:cNvSpPr>
          <p:nvPr/>
        </p:nvSpPr>
        <p:spPr>
          <a:xfrm>
            <a:off x="7391400" y="42005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時価乖離の要因整理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25C83F3-A14B-46C4-9EB6-B14F618A4738}"/>
              </a:ext>
            </a:extLst>
          </p:cNvPr>
          <p:cNvSpPr>
            <a:spLocks noGrp="1"/>
          </p:cNvSpPr>
          <p:nvPr/>
        </p:nvSpPr>
        <p:spPr>
          <a:xfrm>
            <a:off x="7391400" y="4962525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引用・出典付きの助言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2A7FFA4-B389-4B09-A85D-FA82D9BB0434}"/>
              </a:ext>
            </a:extLst>
          </p:cNvPr>
          <p:cNvSpPr>
            <a:spLocks noGrp="1"/>
          </p:cNvSpPr>
          <p:nvPr/>
        </p:nvSpPr>
        <p:spPr>
          <a:xfrm>
            <a:off x="7391400" y="5495925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最終判定はクオンツが実施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EBDB6234-F91F-48A1-B4BF-12FA42CF29F4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996315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5983D24-A62C-4E3C-8A96-999B6CAC7666}"/>
              </a:ext>
            </a:extLst>
          </p:cNvPr>
          <p:cNvSpPr>
            <a:spLocks noGrp="1"/>
          </p:cNvSpPr>
          <p:nvPr/>
        </p:nvSpPr>
        <p:spPr>
          <a:xfrm>
            <a:off x="361950" y="6315075"/>
            <a:ext cx="9963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ファンド時価の即時性・説明性向上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02B7A59-C120-440F-A85E-D0526159D214}"/>
              </a:ext>
            </a:extLst>
          </p:cNvPr>
          <p:cNvSpPr>
            <a:spLocks noGrp="1"/>
          </p:cNvSpPr>
          <p:nvPr/>
        </p:nvSpPr>
        <p:spPr>
          <a:xfrm>
            <a:off x="371475" y="6791325"/>
            <a:ext cx="9858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時価の適正性検証を通じて実現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EC55207-8DBE-438D-A271-B6F15054BE04}"/>
              </a:ext>
            </a:extLst>
          </p:cNvPr>
          <p:cNvSpPr>
            <a:spLocks noGrp="1"/>
          </p:cNvSpPr>
          <p:nvPr/>
        </p:nvSpPr>
        <p:spPr>
          <a:xfrm>
            <a:off x="371475" y="7048500"/>
            <a:ext cx="9858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監査法人による当社時価および時価乖離検証業務の認証を検討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63F477D-2E47-4E05-A038-FCAAE97DE5EE}"/>
              </a:ext>
            </a:extLst>
          </p:cNvPr>
          <p:cNvSpPr>
            <a:spLocks noGrp="1"/>
          </p:cNvSpPr>
          <p:nvPr/>
        </p:nvSpPr>
        <p:spPr>
          <a:xfrm>
            <a:off x="10077450" y="7286625"/>
            <a:ext cx="2476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  <a:lvl1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1pPr>
            <a:lvl2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2pPr>
            <a:lvl3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3pPr>
            <a:lvl4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4pPr>
            <a:lvl5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5pPr>
            <a:lvl6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6pPr>
            <a:lvl7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7pPr>
            <a:lvl8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8pPr>
            <a:lvl9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r">
              <a:defRPr sz="900" b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12419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DocSecurity>0</DocSecurity>
  <PresentationFormat>ユーザー設定</PresentationFormat>
  <Paragraphs>116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Yu Gothic</vt:lpstr>
      <vt:lpstr>Aptos</vt:lpstr>
      <vt:lpstr>Cambria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栄一 堀米</cp:lastModifiedBy>
  <cp:revision>1</cp:revision>
  <dcterms:created xsi:type="dcterms:W3CDTF">2026-10-31T12:59:02Z</dcterms:created>
  <dcterms:modified xsi:type="dcterms:W3CDTF">2026-10-31T14:41:23Z</dcterms:modified>
</cp:coreProperties>
</file>